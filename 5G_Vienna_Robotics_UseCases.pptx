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8CAE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8CAE4"/>
                </a:solidFill>
                <a:latin typeface="Arial"/>
              </a:rPr>
              <a:t>Latency (ms) -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Wi-Fi (Handover)</c:v>
                  </c:pt>
                  <c:pt idx="1">
                    <c:v>4G/LTE</c:v>
                  </c:pt>
                  <c:pt idx="2">
                    <c:v>5G SA (URLLC)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50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8CAE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8CAE4"/>
                </a:solidFill>
                <a:latin typeface="Arial"/>
              </a:rPr>
              <a:t>Bandwidth (Mbps) -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(Mbps)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Wi-Fi 5</c:v>
                  </c:pt>
                  <c:pt idx="1">
                    <c:v>4G/LTE</c:v>
                  </c:pt>
                  <c:pt idx="2">
                    <c:v>5G SA (eMBB)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100</c:v>
                </c:pt>
                <c:pt idx="2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48CAE4">
              <a:alpha val="2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CANNOT BE UNCONNECTED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Plus Technology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Use Cases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Vienna Ecosystem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657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Detailed Use Cases  |  Vienna-Based Enterprises  |  5G SA Solutions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515722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5157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ÖBB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65530" y="4389120"/>
            <a:ext cx="1320394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5530" y="4389120"/>
            <a:ext cx="13203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Linien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5651" y="4389120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5651" y="43891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Österr. Post 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86707" y="4389120"/>
            <a:ext cx="1400861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707" y="4389120"/>
            <a:ext cx="14008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Flughafen Wien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97296" y="4389120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4389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STRABAG 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86016" y="4389120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43891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Telekom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174736" y="4389120"/>
            <a:ext cx="837590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4389120"/>
            <a:ext cx="8375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Wien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22054" y="4389120"/>
            <a:ext cx="1883664" cy="292608"/>
          </a:xfrm>
          <a:prstGeom prst="roundRect">
            <a:avLst>
              <a:gd name="adj" fmla="val 15625"/>
            </a:avLst>
          </a:prstGeom>
          <a:solidFill>
            <a:srgbClr val="0D21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2054" y="438912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Danube Robotics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Use Cases —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AMR Fleet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609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Handover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15798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1579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Edge-SLAM &amp; Computation Offloading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Offloading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5409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 — Mission-Critical Isolation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5020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ÖBB — Railway Infrastructure Inspection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BVLOS Patrol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6187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1261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Linien — Subway Tunnel Inspection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1609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Feeder 5G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084832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215798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0368" y="21579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Österr. Post — Autonomous Delivery Bots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505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80944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05409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30368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Flughafen Wien — Apron UGV Fleet Control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5G SA + Positioning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877056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95020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0368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STRABAG/PORR — Construction Site LiDAR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Nomadic Node + eMBB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AMR Fleet Management — Seamless Handover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Telekom Austria  ·  ARTI - Autonomy for Robots  ·  CANCOM Austria  |  5GEARING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Logistics Warehouse Operators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Nationally funded 5GEARING project focusing on 5G adaptation in manufacturing &amp; logistics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AMRs experience handovers when moving between Wi-Fi Access Points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can drop for 500 ms to 2 seconds during a handover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heartbeat signal loss triggers emergency safety braking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stop-and-go in large fleets paralyzes logistics workflows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EMI (electromagnetic interference) highly degrades Wi-Fi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Private 5G SA operates on licensed bands, immune to industrial EMI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handovers guarantee zero-drop connectivity with &lt;10 ms transition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ROS2 stack streams SLAM data seamlessly to fleet managers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stop-and-go behaviors are entirely prevented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CANCOM integration provides real-time network optimization analytics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+25% Operational Efficiency  ·  Zero Heartbeat Loss  ·  Continuous Fleet Flow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Edge-SLAM &amp; Computation Offloading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Wien IFT  ·  Blue Danube Robotics (AIRSKIN)  |  EU-Funded 5G CONNI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Wien — IFT &amp; Blue Danube Robotics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5G CONNI transnational Private 5G &amp; Edge Cloud testbed for Industry 4.0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AMRs must carry 3D LiDAR, depth cameras, and heavy Edge GPUs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hardware costs skyrocket and significantly increase payload weight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power consumption dramatically reduces autonomous battery life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AIRSKIN safety tactile data requires millisecond-level processing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LTE bandwidth cannot handle raw 3D LiDAR point cloud streaming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CONNI architecture shifts the robot's 'brain' to the local Edge Cloud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streams raw sensor data using high-throughput 5G eMBB uplink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Edge servers run simultaneous localization, mapping, and AI perception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loop provides wired-like stability (&lt;1 ms round-trip airtime)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on-board hardware extends battery life and cuts robot unit costs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Reduced Unit Cost  ·  Extended Battery Life  ·  Fenceless HRC via AIRSKIN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Slicing — Mission-Critical Isolation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Telekom  ·  TU Wien Institute of Telecommunications  ·  Smart Factory Facilities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 Seestadt Aspern &amp; Pilot Smart Factories (Vienna)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TU Wien's Vienna 5G Simulator optimizes cellular slicing parameters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high-res CCTV, office traffic, and AMRs share the same band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bursts generate heavy packet congestion in standard networks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arm 'Emergency Stop' or trajectory corrections experience latency (&gt;100 ms)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industrial automation, such delays result in collisions or line stops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cannot provide deterministic QoS guarantees; traffic prioritization fails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 — Critical Control: AMR + robotic arm ROS2/PROFINET over 5G (&lt;5 ms guaranteed)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 — High Bandwidth: Real-time computer vision quality control (High Mbps eMBB)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 — General Traffic: Office personnel, standard data transfers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 remains completely untouched regardless of heavy data spikes on Slice 2 or 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dynamically modeled using the TU Wien Vienna 5G Simulator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Zero Control Latency  ·  Uninterrupted Production Lines  ·  PROFINET over 5G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ÖBB — Railway Infrastructure &amp; Safety Inspection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Österreichische Bundesbahnen  ·  Zentralverschiebebahnhof Wien-Kledering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ÖBB (Austrian Federal Railways)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Massive open yards where deployment of static Wi-Fi is physically impossible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Vienna's massive marshalling yards cover kilometers of changing environments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standard Wi-Fi across this scale is too costly and causes dead zones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4G yields high latency and inadequate uplink for raw thermal/LiDAR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signal drops, autonomous safety inspections freeze, creating security gaps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UGVs like Boston Dynamics Spot cannot operate BVLOS without reliable links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5G SA coverage natively integrated across major ÖBB corridors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BVLOS (Beyond Visual Line of Sight) deployment with zero local operators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UGVs stream real-time thermal, video, and LiDAR payloads directly to cloud instances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pipelines parse data instantly to detect track micro-fractures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drop risk is completely eliminated, enabling constant 24/7 security sweeps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Lower Inspection Cost  ·  Early Fault Detection  ·  Enhanced Rail Safety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Wiener Linien — Subway Tunnel Inspection &amp; Maintenance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Linien  ·  U-Bahn (Focus on the new fully automated U5 Line)  ·  Night Shift Patrols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Wiener Linien (Vienna Public Transport)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Inspecting track wear and water leakages in deep underground tunnels during night shifts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dense Wi-Fi networks in underground tunnels faces rapid signal attenuation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LTE bottlenecks under heavy 3D environmental mapping data streams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driverless U5 line requires the absolute highest automation and safety standards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maintenance windows are extremely tight; rapid data sync is mandatory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underground topology blocks traditional long-range uplink signals to the surface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5G URLLC utilizing Leaky Feeder cables running through the tunnels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Tracked/wheeled inspection robots deploy instantly as the passenger tracks close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Gigabit-level point cloud datasets sync directly to the control center over eMBB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ensures ultra-low latency inputs for instantaneous remote manual overrides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volumetric maps are compiled seamlessly on the surface to clear tracks before dawn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Optimized Maintenance Windows  ·  Early Structural Alerting  ·  U5 Compliant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Österreichische Post — Autonomous Last-Mile Delivery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Österreichische Post AG  ·  Mariahilfer Straße &amp; Urban Autonomous Delivery Trials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Österreichische Post AG (Austrian Post)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Pedestrian-dense urban zones where standard commercial networks choke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Wi-Fi across public city streets is physically and logistically impossible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4G towers face heavy congestion from regular citizens streaming media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delays navigation updates, creating real collision risks with pedestrians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'Object Detected - Halt' fallback overrides can be delayed by cell load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metrics cannot be mathematically guaranteed on highly crowded caddes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Slicing: Austrian Post acquires a dedicated 'Critical Public Robot' slice (A1/Magenta)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local cell congestion from pedestrians, the robot's slice bandwidth is walled off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 achieve a guaranteed &lt;2 ms airtime response loop directly to edge clusters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continuous, reliable autonomous delivery along dense corridors like Mariahilfer Straße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scalable: new delivery bots seamlessly claim pre-allocated slice priority tokens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Guaranteed 2 ms Safety Loop  ·  Immunity to Public Load  ·  Secure Last-Mile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Flughafen Wien — Apron Autonomous Cargo &amp; UGV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Flughafen Wien AG (Vienna International Airport)  ·  Apron UGVs &amp; Ground Support Equipment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Flughafen Wien 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High-EMI environment due to ground radars, transponders, and avionics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aprons are heavily saturated with EMI (radar arrays, avionics, radio towers)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presents severe cyber-vulnerabilities and high geometric shadow dropouts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autonomous baggage towing tractors directly trigger cascading flight delays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GPS/GNSS signals frequently degrade around massive metal hangars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4G lacks the sub-meter localization accuracy needed for tight tarmac positioning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Private 5G SA enterprise network operating on interference-free bands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orchestration plane tracks all autonomous tugs and ground units simultaneously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native 5G Positioning tech to maintain ultra-precise centimeter-level location telemetry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(Vehicle-to-Everything) links are completely isolated from radar interference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path optimization routing minimizes ground handling lag and turnarounds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Centimeter-Level Precision  ·  Minimized Turnaround Lag  ·  Maximized Apron Security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STRABAG / PORR — Construction Site 3D LiDAR Scanning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566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STRABAG SE  ·  PORR AG  ·  Vienna Urban Development Zones  ·  BIM Digital Twin Integration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STAKEHOLDER / END 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STRABAG SE &amp; PORR 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Rapidly changing structural shapes where fixed layouts are unfeasible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A101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CHALLENGE — WHY NOT WI-FI / 4G?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environments change daily; running static data backhauls is impossible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BIM (Building Information Modeling) validation requires daily 3D LiDAR sweeps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raw Point Cloud datasets scale up to massive gigabyte profiles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over 4G takes hours, delaying verification and leaving faults unaddressed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discrepancies caught weeks later generate massive structural rework costs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A1A14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6916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4650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5G PLUS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a rapidly towable, temporary 5G Plus field base station (Nomadic Node)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scanning units cross the site and pipe point clouds over high-speed 5G eMBB uplink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Gigabytes of volumetric site data sync to the engineering trailer in seconds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routines match the scan against the BIM model for real-time anomaly detection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2F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job concludes, the Nomadic Node rolls to the next location with zero infrastructure loss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19456"/>
          </a:xfrm>
          <a:prstGeom prst="roundRect">
            <a:avLst>
              <a:gd name="adj" fmla="val 20833"/>
            </a:avLst>
          </a:prstGeom>
          <a:solidFill>
            <a:srgbClr val="0D2137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Result: Sync Windows Trimmed to Seconds  ·  Instant Anomaly Detection  ·  BIM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/ 4G vs. 5G Plus — Key Metrics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57200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2137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4590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65760" y="4846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Latency Guarantee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514600" y="457200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2137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14600" y="4590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Gbps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514600" y="4846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Max Throughput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663440" y="457200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2137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63440" y="4590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99.9999%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846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Reliability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812280" y="457200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2137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12280" y="4590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Drops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812280" y="48463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Handover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48CAE4">
              <a:alpha val="10000"/>
            </a:srgbClr>
          </a:solidFill>
          <a:ln w="12700">
            <a:solidFill>
              <a:srgbClr val="48CAE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 Plus — The Wireless Backbone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Autonomous Future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3172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Wi-Fi handover issues resolved → 5G SA seamless connectivity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4G bandwidth bottlenecks eliminated → eMBB Gigabit data transfer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Network congestion prevented → Network Slicing for guaranteed pipelines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Underground &amp; remote coverage achieved → Leaky Feeder &amp; Nomadic Nodes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Heavy on-board processing reduced → Edge Cloud + URLLC offloading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Wien IFT  ·  A1 Telekom  ·  5GEARING  ·  5G CONNI  ·  Vienna 5G Simulators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Plus - Vienna Robotics Use Cases</dc:title>
  <dc:subject>PptxGenJS Presentation</dc:subject>
  <dc:creator>PptxGenJS</dc:creator>
  <cp:lastModifiedBy>PptxGenJS</cp:lastModifiedBy>
  <cp:revision>1</cp:revision>
  <dcterms:created xsi:type="dcterms:W3CDTF">2026-06-25T12:36:07Z</dcterms:created>
  <dcterms:modified xsi:type="dcterms:W3CDTF">2026-06-25T12:36:07Z</dcterms:modified>
</cp:coreProperties>
</file>